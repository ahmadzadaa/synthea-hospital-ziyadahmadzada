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f9isRWZX8MsQSIz1zxHQfqtyi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6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4D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rebuchet MS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Synthea Hospital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41248" y="3063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600"/>
              <a:buFont typeface="Trebuchet MS"/>
              <a:buNone/>
            </a:pPr>
            <a:r>
              <a:rPr lang="en-US" sz="2600" b="0" i="0" u="none" strike="noStrike" cap="none">
                <a:solidFill>
                  <a:srgbClr val="CADCFC"/>
                </a:solidFill>
                <a:latin typeface="Trebuchet MS"/>
                <a:ea typeface="Trebuchet MS"/>
                <a:cs typeface="Trebuchet MS"/>
                <a:sym typeface="Trebuchet MS"/>
              </a:rPr>
              <a:t>Səhiyyə Məlumatlarının Analizi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41248" y="39776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E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7FB3E8"/>
                </a:solidFill>
                <a:latin typeface="Calibri"/>
                <a:ea typeface="Calibri"/>
                <a:cs typeface="Calibri"/>
                <a:sym typeface="Calibri"/>
              </a:rPr>
              <a:t>Deskriptiv Analiz</a:t>
            </a:r>
            <a:r>
              <a:rPr lang="en-US" sz="15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lang="en-US" sz="1500" b="0" i="0" u="none" strike="noStrike" cap="none">
                <a:solidFill>
                  <a:srgbClr val="E8927C"/>
                </a:solidFill>
                <a:latin typeface="Calibri"/>
                <a:ea typeface="Calibri"/>
                <a:cs typeface="Calibri"/>
                <a:sym typeface="Calibri"/>
              </a:rPr>
              <a:t>Anomaliya</a:t>
            </a:r>
            <a:r>
              <a:rPr lang="en-US" sz="15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lang="en-US" sz="1500" b="0" i="0" u="none" strike="noStrike" cap="none">
                <a:solidFill>
                  <a:srgbClr val="6FD0B0"/>
                </a:solidFill>
                <a:latin typeface="Calibri"/>
                <a:ea typeface="Calibri"/>
                <a:cs typeface="Calibri"/>
                <a:sym typeface="Calibri"/>
              </a:rPr>
              <a:t>Proqnoz (ARIMA)</a:t>
            </a:r>
            <a:r>
              <a:rPr lang="en-US" sz="15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lang="en-US" sz="15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Yekun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868680" y="4800600"/>
            <a:ext cx="2926080" cy="0"/>
          </a:xfrm>
          <a:prstGeom prst="straightConnector1">
            <a:avLst/>
          </a:prstGeom>
          <a:noFill/>
          <a:ln w="31750" cap="flat" cmpd="sng">
            <a:solidFill>
              <a:srgbClr val="1D9E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"/>
          <p:cNvSpPr/>
          <p:nvPr/>
        </p:nvSpPr>
        <p:spPr>
          <a:xfrm>
            <a:off x="841248" y="5029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Ziyad </a:t>
            </a:r>
            <a:r>
              <a:rPr lang="en-US" sz="15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Ahmadzada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85FA5"/>
                </a:solidFill>
                <a:latin typeface="Trebuchet MS"/>
                <a:ea typeface="Trebuchet MS"/>
                <a:cs typeface="Trebuchet MS"/>
                <a:sym typeface="Trebuchet MS"/>
              </a:rPr>
              <a:t>GIRIŞ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Layihə və Məlumat Bazası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66928" y="1691640"/>
            <a:ext cx="3520440" cy="150876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566928" y="1837944"/>
            <a:ext cx="3520440" cy="7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85FA5"/>
                </a:solidFill>
                <a:latin typeface="Trebuchet MS"/>
                <a:ea typeface="Trebuchet MS"/>
                <a:cs typeface="Trebuchet MS"/>
                <a:sym typeface="Trebuchet MS"/>
              </a:rPr>
              <a:t>132,607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58368" y="2627071"/>
            <a:ext cx="3337560" cy="482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Xəstə (patients)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334256" y="1691640"/>
            <a:ext cx="3520440" cy="150876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334256" y="1837944"/>
            <a:ext cx="3520440" cy="7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D9E75"/>
                </a:solidFill>
                <a:latin typeface="Trebuchet MS"/>
                <a:ea typeface="Trebuchet MS"/>
                <a:cs typeface="Trebuchet MS"/>
                <a:sym typeface="Trebuchet MS"/>
              </a:rPr>
              <a:t>1,263,669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425696" y="2627071"/>
            <a:ext cx="3337560" cy="482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Müraciət (encounters)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101584" y="1691640"/>
            <a:ext cx="3520440" cy="150876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8101584" y="1837944"/>
            <a:ext cx="3520440" cy="7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4537E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D4537E"/>
                </a:solidFill>
                <a:latin typeface="Trebuchet MS"/>
                <a:ea typeface="Trebuchet MS"/>
                <a:cs typeface="Trebuchet MS"/>
                <a:sym typeface="Trebuchet MS"/>
              </a:rPr>
              <a:t>5,383,318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193024" y="2627071"/>
            <a:ext cx="3337560" cy="482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Müşahidə (observations)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66928" y="3520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Dövr: 2011 – 2017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66928" y="4069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Analiz dörd mərhələdə aparılıb: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66928" y="4572000"/>
            <a:ext cx="2606040" cy="105156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95528" y="4864608"/>
            <a:ext cx="457200" cy="45720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95528" y="4864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389888" y="4864608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Trebuchet MS"/>
              <a:buNone/>
            </a:pPr>
            <a:r>
              <a:rPr lang="en-US" sz="145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Deskriptiv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374136" y="4572000"/>
            <a:ext cx="2606040" cy="105156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602736" y="4864608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02736" y="4864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197096" y="4864608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Trebuchet MS"/>
              <a:buNone/>
            </a:pPr>
            <a:r>
              <a:rPr lang="en-US" sz="145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Anomaliya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181344" y="4572000"/>
            <a:ext cx="2606040" cy="105156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409944" y="4864608"/>
            <a:ext cx="457200" cy="4572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409944" y="4864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004304" y="4864608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Trebuchet MS"/>
              <a:buNone/>
            </a:pPr>
            <a:r>
              <a:rPr lang="en-US" sz="145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Proqnoz · ARIMA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988552" y="4572000"/>
            <a:ext cx="2606040" cy="105156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9217152" y="4864608"/>
            <a:ext cx="457200" cy="457200"/>
          </a:xfrm>
          <a:prstGeom prst="ellipse">
            <a:avLst/>
          </a:prstGeom>
          <a:solidFill>
            <a:srgbClr val="143C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9217152" y="4864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811512" y="4864608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Trebuchet MS"/>
              <a:buNone/>
            </a:pPr>
            <a:r>
              <a:rPr lang="en-US" sz="145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Yekun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85FA5"/>
                </a:solidFill>
                <a:latin typeface="Trebuchet MS"/>
                <a:ea typeface="Trebuchet MS"/>
                <a:cs typeface="Trebuchet MS"/>
                <a:sym typeface="Trebuchet MS"/>
              </a:rPr>
              <a:t>1 · DESKRIPTIV ANALIZ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Xəstə Demoqrafiyası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3" descr="01_cins_pi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553" y="1554480"/>
            <a:ext cx="4850575" cy="4297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3" descr="02_marital_pi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1562804"/>
            <a:ext cx="5577840" cy="428103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68680" y="605332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NƏTİCƏ:  </a:t>
            </a: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Cins balansı bərabərdir (50.2% / 49.8%), orta yaş 43.6, xəstələrin yarıdan çoxu (57%) evlidir.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85FA5"/>
                </a:solidFill>
                <a:latin typeface="Trebuchet MS"/>
                <a:ea typeface="Trebuchet MS"/>
                <a:cs typeface="Trebuchet MS"/>
                <a:sym typeface="Trebuchet MS"/>
              </a:rPr>
              <a:t>1 · DESKRIPTIV ANALIZ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Yaş Bölgüsü və Ölüm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4" descr="04_yas_qru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2028792"/>
            <a:ext cx="5577840" cy="3349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4" descr="05_olum_ya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1975979"/>
            <a:ext cx="5577840" cy="345468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868680" y="605332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NƏTİCƏ:  </a:t>
            </a: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Populyasiya orta yaşlıdır; ölüm faizi yaşla kəskin artır — 40-49 yaşda 25.7%, 90+ yaşda 67.8%.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85FA5"/>
                </a:solidFill>
                <a:latin typeface="Trebuchet MS"/>
                <a:ea typeface="Trebuchet MS"/>
                <a:cs typeface="Trebuchet MS"/>
                <a:sym typeface="Trebuchet MS"/>
              </a:rPr>
              <a:t>1 · DESKRIPTIV ANALIZ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Ölüm Səbəbləri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5" descr="06_olum_sebebler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2055038"/>
            <a:ext cx="7040880" cy="384520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7818120" y="2066544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8074152" y="1965960"/>
            <a:ext cx="367588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Birinci yer: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ağciyər xərçəngi (9.6%) və miokard infarktı (8.6%).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818120" y="3145536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074152" y="3044952"/>
            <a:ext cx="367588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Tənəffüs yükü: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emfizema + xroniki bronxit birlikdə 12.2%.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818120" y="4224528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074152" y="4123944"/>
            <a:ext cx="367588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Nəticə: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ölümlərin böyük hissəsi ürək-damar və ağciyər xəstəlikləridir.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85FA5"/>
                </a:solidFill>
                <a:latin typeface="Trebuchet MS"/>
                <a:ea typeface="Trebuchet MS"/>
                <a:cs typeface="Trebuchet MS"/>
                <a:sym typeface="Trebuchet MS"/>
              </a:rPr>
              <a:t>1 · DESKRIPTIV ANALIZ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Müraciət Növləri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6" descr="07_muraciet_novler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2067374"/>
            <a:ext cx="7040880" cy="382053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7818120" y="2066544"/>
            <a:ext cx="118872" cy="118872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074152" y="1965960"/>
            <a:ext cx="367588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Dominant: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ambulator müraciət — 597K (~47%).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818120" y="3145536"/>
            <a:ext cx="118872" cy="118872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8074152" y="3044952"/>
            <a:ext cx="367588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İkinci: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simptom müraciəti — 199K.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7818120" y="4224528"/>
            <a:ext cx="118872" cy="118872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074152" y="4123944"/>
            <a:ext cx="367588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Nəticə: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müraciətlərin əksəriyyəti planlı və ambulatordur, təcili deyil.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85FA5"/>
                </a:solidFill>
                <a:latin typeface="Trebuchet MS"/>
                <a:ea typeface="Trebuchet MS"/>
                <a:cs typeface="Trebuchet MS"/>
                <a:sym typeface="Trebuchet MS"/>
              </a:rPr>
              <a:t>1 · DESKRIPTIV ANALIZ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Metabolik Risk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7" descr="08_bmi_his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868875"/>
            <a:ext cx="5852160" cy="3668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7" descr="03_hba1c_pi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3206" y="1554480"/>
            <a:ext cx="5270148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68680" y="605332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NƏTİCƏ:  </a:t>
            </a: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Orta BMI 29.9 — populyasiya artıq çəki həddində. HbA1c ölçülənlərin 82.6%-i prediabet, 10.7%-i diabet riskindədir.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85FA5"/>
                </a:solidFill>
                <a:latin typeface="Trebuchet MS"/>
                <a:ea typeface="Trebuchet MS"/>
                <a:cs typeface="Trebuchet MS"/>
                <a:sym typeface="Trebuchet MS"/>
              </a:rPr>
              <a:t>1 · DESKRIPTIV ANALIZ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Müraciət Trendi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8" descr="12_illik_tren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907953"/>
            <a:ext cx="5577840" cy="3590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8" descr="13_movsumi_tren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1940581"/>
            <a:ext cx="5577840" cy="352547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868680" y="605332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NƏTİCƏ:  </a:t>
            </a: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İllik həcm sabitdir (~179K). Aylar üzrə təkrarlanan mövsümi pattern var — bu, proqnozlaşdırmağa imkan verir.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2 · ANOMALIYA ANALIZI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Aşkar Edilən Anomaliyalar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66928" y="1828800"/>
            <a:ext cx="2103120" cy="155448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566928" y="1975104"/>
            <a:ext cx="2103120" cy="80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658368" y="2792578"/>
            <a:ext cx="1920240" cy="49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Ölümdən sonra müraciət (ghost)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2798064" y="1828800"/>
            <a:ext cx="2103120" cy="155448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2798064" y="1975104"/>
            <a:ext cx="2103120" cy="80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EF9F27"/>
                </a:solidFill>
                <a:latin typeface="Trebuchet MS"/>
                <a:ea typeface="Trebuchet MS"/>
                <a:cs typeface="Trebuchet MS"/>
                <a:sym typeface="Trebuchet MS"/>
              </a:rPr>
              <a:t>805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2889504" y="2792578"/>
            <a:ext cx="1920240" cy="49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Ölüm günü şübhəli müraciət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5029200" y="1828800"/>
            <a:ext cx="2103120" cy="155448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5029200" y="1975104"/>
            <a:ext cx="2103120" cy="80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EF9F27"/>
                </a:solidFill>
                <a:latin typeface="Trebuchet MS"/>
                <a:ea typeface="Trebuchet MS"/>
                <a:cs typeface="Trebuchet MS"/>
                <a:sym typeface="Trebuchet MS"/>
              </a:rPr>
              <a:t>11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5120640" y="2792578"/>
            <a:ext cx="1920240" cy="49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Sertifikat erkən yazılıb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7260336" y="1828800"/>
            <a:ext cx="2103120" cy="155448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7260336" y="1975104"/>
            <a:ext cx="2103120" cy="80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17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7351776" y="2792578"/>
            <a:ext cx="1920240" cy="49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Mənfi HbA1c (mümkünsüz)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9491472" y="1828800"/>
            <a:ext cx="2103120" cy="155448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9491472" y="1975104"/>
            <a:ext cx="2103120" cy="80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9,653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9582912" y="2792578"/>
            <a:ext cx="1920240" cy="49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Təkrar SSN  (+12 pasport)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66928" y="3794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Data keyfiyyəti yoxlaması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66928" y="42062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Proqnoz üçün yalnız 5 ghost müraciət təmizləndi — qalan anomaliyalar müraciət həcminə təsir etmir, ona görə işarələnib saxlanıldı. Bu yoxlama analizin etibarlılığını təmin edir.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2 · ANOMALIYA ANALIZI  ·  ƏSAS TAPINTI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Asılılıq Müalicəsi: Təkrar Qayıdış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0" descr="09_asililiq_qayidi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125" y="1600200"/>
            <a:ext cx="710335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0"/>
          <p:cNvSpPr/>
          <p:nvPr/>
        </p:nvSpPr>
        <p:spPr>
          <a:xfrm>
            <a:off x="7955280" y="2066544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8211312" y="1965960"/>
            <a:ext cx="35387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98.6%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xəstə müalicəyə 2+ dəfə qayıdıb (1,052 / 1,067).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7955280" y="3145536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8211312" y="3044952"/>
            <a:ext cx="35387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Orta 17.8 dəfə,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bir xəstə 47 dəfə müraciət edib.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7955280" y="4224528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8211312" y="4123944"/>
            <a:ext cx="35387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Nəticə: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müalicə bir dəfəyə kifayət etmir — xroniki recidiv.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2 · ANOMALIYA ANALIZI  ·  ƏSAS TAPINTI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Asılılıq Müalicəsi: Overdose Nəticəsi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1" descr="10_overdose_pi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910560"/>
            <a:ext cx="5577840" cy="3585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1" descr="11_overdose_vax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1803397"/>
            <a:ext cx="5577840" cy="379984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868680" y="605332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NƏTİCƏ:  </a:t>
            </a: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Müalicə keçənlərin 58.4%-i (623) overdose olub — əksəriyyəti 1+ ildən sonra. Müalicənin uzunmüddətli effekti zəifdir.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D9E75"/>
                </a:solidFill>
                <a:latin typeface="Trebuchet MS"/>
                <a:ea typeface="Trebuchet MS"/>
                <a:cs typeface="Trebuchet MS"/>
                <a:sym typeface="Trebuchet MS"/>
              </a:rPr>
              <a:t>3 · PROQNOZ (ARIMA)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Sual: Gələcəkdə Neçə Müraciət?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566928" y="16002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Xəstəxana sabit, böyük müraciət həcminə malikdir (~179K/il). Bəs gələcək aylarda nə qədər müraciət gözlənilir? Bu suala cavab planlamanın əsasıdır: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566928" y="2697480"/>
            <a:ext cx="3611880" cy="246888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822960" y="2971800"/>
            <a:ext cx="603504" cy="603504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822960" y="297180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₁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822960" y="3685032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Kadr planlaması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822960" y="4069080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Hansı aylarda daha çox həkim və tibb bacısı lazımdır?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4334256" y="2697480"/>
            <a:ext cx="3611880" cy="246888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4590288" y="2971800"/>
            <a:ext cx="603504" cy="603504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4590288" y="297180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₂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4590288" y="3685032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Büdcə proqnozu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4590288" y="4069080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Gələn il üçün maliyyə ehtiyacını əvvəlcədən hesablamaq.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8101584" y="2697480"/>
            <a:ext cx="3611880" cy="246888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8357616" y="2971800"/>
            <a:ext cx="603504" cy="603504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"/>
          <p:cNvSpPr/>
          <p:nvPr/>
        </p:nvSpPr>
        <p:spPr>
          <a:xfrm>
            <a:off x="8357616" y="297180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₃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8357616" y="3685032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Resurs / yataq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8357616" y="4069080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Yataq, dərman və avadanlıq ehtiyatını optimallaşdırmaq.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D9E75"/>
                </a:solidFill>
                <a:latin typeface="Trebuchet MS"/>
                <a:ea typeface="Trebuchet MS"/>
                <a:cs typeface="Trebuchet MS"/>
                <a:sym typeface="Trebuchet MS"/>
              </a:rPr>
              <a:t>3 · PROQNOZ (ARIMA)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Zaman Sırası və Hazırlıq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566928" y="1920240"/>
            <a:ext cx="2670048" cy="22860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3"/>
          <p:cNvSpPr/>
          <p:nvPr/>
        </p:nvSpPr>
        <p:spPr>
          <a:xfrm>
            <a:off x="822960" y="2194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lang="en-US" sz="17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804672" y="290779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Aylıq aqreqasiya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804672" y="3456432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Müraciətlər ay-ay sayıldı.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3374136" y="1920240"/>
            <a:ext cx="2670048" cy="22860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3630168" y="2194560"/>
            <a:ext cx="566928" cy="566928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3630168" y="2194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lang="en-US" sz="17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3611880" y="290779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5 ghost təmizləndi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3611880" y="3456432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Ölümdən sonrakı qeydlər çıxarıldı.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6181344" y="1920240"/>
            <a:ext cx="2670048" cy="22860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6437376" y="2194560"/>
            <a:ext cx="566928" cy="566928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6437376" y="2194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lang="en-US" sz="17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6419088" y="290779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Natamam 2017 çıxarıldı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419088" y="3456432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Yarımçıq il proqnozu pozardı.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988552" y="1920240"/>
            <a:ext cx="2670048" cy="22860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9244584" y="2194560"/>
            <a:ext cx="566928" cy="566928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9244584" y="2194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lang="en-US" sz="17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9226296" y="290779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72 aylıq seriya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9226296" y="3456432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2011-2016 — model üçün təmiz baza.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566928" y="46177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Stasionarlıq yoxlaması (ADF testi): 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 = 0.018 — seriya stasionardır, modelə uyğundur.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D9E75"/>
                </a:solidFill>
                <a:latin typeface="Trebuchet MS"/>
                <a:ea typeface="Trebuchet MS"/>
                <a:cs typeface="Trebuchet MS"/>
                <a:sym typeface="Trebuchet MS"/>
              </a:rPr>
              <a:t>3 · PROQNOZ (ARIMA)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ARIMA Sadə Dildə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566928" y="1828800"/>
            <a:ext cx="3611880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822960" y="2103120"/>
            <a:ext cx="603504" cy="603504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822960" y="210312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822960" y="2816352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Özünə baxan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822960" y="3200400"/>
            <a:ext cx="309981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 ayın dəyəri keçmiş ayların dəyərindən asılıdır.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4334256" y="1828800"/>
            <a:ext cx="3611880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4590288" y="2103120"/>
            <a:ext cx="603504" cy="603504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4590288" y="210312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4590288" y="2816352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Düzləşdirən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4590288" y="3200400"/>
            <a:ext cx="309981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Trend varsa, onu çıxarıb datanı sabit hala gətirir.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8101584" y="1828800"/>
            <a:ext cx="3611880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8357616" y="2103120"/>
            <a:ext cx="603504" cy="603504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8357616" y="210312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8357616" y="2816352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Xətadan öyrənən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8357616" y="3200400"/>
            <a:ext cx="309981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Keçmiş proqnoz xətalarını nəzərə alıb düzəliş edir.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566928" y="489204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Qısaca:  </a:t>
            </a: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keçmişə baxaraq gələcəyi proqnozlaşdıran statistik model. </a:t>
            </a:r>
            <a:r>
              <a:rPr lang="en-U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Mövsümi versiya hər ilin təkrarlanan pattern-ini də öyrənir.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D9E75"/>
                </a:solidFill>
                <a:latin typeface="Trebuchet MS"/>
                <a:ea typeface="Trebuchet MS"/>
                <a:cs typeface="Trebuchet MS"/>
                <a:sym typeface="Trebuchet MS"/>
              </a:rPr>
              <a:t>3 · PROQNOZ (ARIMA)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Model Necə Quruldu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5" descr="15_acf_pac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716794"/>
            <a:ext cx="7315200" cy="360729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5"/>
          <p:cNvSpPr/>
          <p:nvPr/>
        </p:nvSpPr>
        <p:spPr>
          <a:xfrm>
            <a:off x="8046720" y="1975104"/>
            <a:ext cx="118872" cy="118872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8302752" y="1874520"/>
            <a:ext cx="344728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auto.arima()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bütün kombinasiyaları yoxladı.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8046720" y="3054096"/>
            <a:ext cx="118872" cy="118872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8302752" y="2953512"/>
            <a:ext cx="344728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ACF / PACF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mövsümi (12 aylıq) pattern göstərdi.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8046720" y="4133088"/>
            <a:ext cx="118872" cy="118872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8302752" y="4032504"/>
            <a:ext cx="344728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Seçildi: </a:t>
            </a: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ARIMA(0,0,0)(2,1,1)[12].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D9E75"/>
                </a:solidFill>
                <a:latin typeface="Trebuchet MS"/>
                <a:ea typeface="Trebuchet MS"/>
                <a:cs typeface="Trebuchet MS"/>
                <a:sym typeface="Trebuchet MS"/>
              </a:rPr>
              <a:t>3 · PROQNOZ (ARIMA)  ·  ƏSAS NƏTICƏ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24 Aylıq Proqnoz (2017-2018)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6" descr="14_arima_proqnoz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0141" y="1463040"/>
            <a:ext cx="7621238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6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868680" y="605332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NƏTİCƏ:  </a:t>
            </a: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gələcək 24 ayı 0.65% xəta ilə proqnozlaşdırır — aylıq təxminən 14,500–15,500 müraciət, mövsümi dalğa ilə.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D9E75"/>
                </a:solidFill>
                <a:latin typeface="Trebuchet MS"/>
                <a:ea typeface="Trebuchet MS"/>
                <a:cs typeface="Trebuchet MS"/>
                <a:sym typeface="Trebuchet MS"/>
              </a:rPr>
              <a:t>3 · PROQNOZ (ARIMA)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Modelin Dəqiqliyi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566928" y="1828800"/>
            <a:ext cx="2651760" cy="16002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566928" y="1975104"/>
            <a:ext cx="2651760" cy="832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D9E75"/>
                </a:solidFill>
                <a:latin typeface="Trebuchet MS"/>
                <a:ea typeface="Trebuchet MS"/>
                <a:cs typeface="Trebuchet MS"/>
                <a:sym typeface="Trebuchet MS"/>
              </a:rPr>
              <a:t>0.65%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658368" y="2820924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MAPE — orta faiz xətası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3419856" y="1828800"/>
            <a:ext cx="2651760" cy="16002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3419856" y="1975104"/>
            <a:ext cx="2651760" cy="832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85FA5"/>
                </a:solidFill>
                <a:latin typeface="Trebuchet MS"/>
                <a:ea typeface="Trebuchet MS"/>
                <a:cs typeface="Trebuchet MS"/>
                <a:sym typeface="Trebuchet MS"/>
              </a:rPr>
              <a:t>133.6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3511296" y="2820924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 — kök orta xəta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6272784" y="1828800"/>
            <a:ext cx="2651760" cy="16002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7"/>
          <p:cNvSpPr/>
          <p:nvPr/>
        </p:nvSpPr>
        <p:spPr>
          <a:xfrm>
            <a:off x="6272784" y="1975104"/>
            <a:ext cx="2651760" cy="832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D9E75"/>
                </a:solidFill>
                <a:latin typeface="Trebuchet MS"/>
                <a:ea typeface="Trebuchet MS"/>
                <a:cs typeface="Trebuchet MS"/>
                <a:sym typeface="Trebuchet MS"/>
              </a:rPr>
              <a:t>0.54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6364224" y="2820924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MASE  (&lt; 1 = yaxşı)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9125712" y="1828800"/>
            <a:ext cx="2651760" cy="16002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7"/>
          <p:cNvSpPr/>
          <p:nvPr/>
        </p:nvSpPr>
        <p:spPr>
          <a:xfrm>
            <a:off x="9125712" y="1975104"/>
            <a:ext cx="2651760" cy="832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4537E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D4537E"/>
                </a:solidFill>
                <a:latin typeface="Trebuchet MS"/>
                <a:ea typeface="Trebuchet MS"/>
                <a:cs typeface="Trebuchet MS"/>
                <a:sym typeface="Trebuchet MS"/>
              </a:rPr>
              <a:t>99.35%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9217152" y="2820924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Ümumi dəqiqlik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566928" y="384048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Şərh:  </a:t>
            </a:r>
            <a:r>
              <a:rPr lang="en-U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MAPE 0.65% → proqnozun 99.35%-i düzgündür. MASE 0.54 → model sadə ortalamadan iki dəfə yaxşıdır. Tibb məlumatları üçün əla nəticə.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D9E75"/>
                </a:solidFill>
                <a:latin typeface="Trebuchet MS"/>
                <a:ea typeface="Trebuchet MS"/>
                <a:cs typeface="Trebuchet MS"/>
                <a:sym typeface="Trebuchet MS"/>
              </a:rPr>
              <a:t>3 · PROQNOZ (ARIMA)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Biznes Dəyəri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566928" y="1828800"/>
            <a:ext cx="3611880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8"/>
          <p:cNvSpPr/>
          <p:nvPr/>
        </p:nvSpPr>
        <p:spPr>
          <a:xfrm>
            <a:off x="822960" y="2103120"/>
            <a:ext cx="603504" cy="603504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8"/>
          <p:cNvSpPr/>
          <p:nvPr/>
        </p:nvSpPr>
        <p:spPr>
          <a:xfrm>
            <a:off x="822960" y="210312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822960" y="2816352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Kadr cədvəli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822960" y="3200400"/>
            <a:ext cx="309981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Mövsümi pikə uyğun həkim/tibb bacısı planlaması.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4334256" y="1828800"/>
            <a:ext cx="3611880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8"/>
          <p:cNvSpPr/>
          <p:nvPr/>
        </p:nvSpPr>
        <p:spPr>
          <a:xfrm>
            <a:off x="4590288" y="2103120"/>
            <a:ext cx="603504" cy="603504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8"/>
          <p:cNvSpPr/>
          <p:nvPr/>
        </p:nvSpPr>
        <p:spPr>
          <a:xfrm>
            <a:off x="4590288" y="210312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4590288" y="2816352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Büdcə proqnozu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4590288" y="3200400"/>
            <a:ext cx="309981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Gələn il üçün maliyyə ehtiyacının dəqiq hesablanması.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8101584" y="1828800"/>
            <a:ext cx="3611880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8"/>
          <p:cNvSpPr/>
          <p:nvPr/>
        </p:nvSpPr>
        <p:spPr>
          <a:xfrm>
            <a:off x="8357616" y="2103120"/>
            <a:ext cx="603504" cy="603504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8"/>
          <p:cNvSpPr/>
          <p:nvPr/>
        </p:nvSpPr>
        <p:spPr>
          <a:xfrm>
            <a:off x="8357616" y="210312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8357616" y="2816352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Resurs planlaması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8357616" y="3200400"/>
            <a:ext cx="309981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Yataq, dərman və avadanlıq ehtiyatının optimallaşması.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566928" y="48920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i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Nəticədə rəhbərlik bir il qabağa etibarlı planlama apara bilər.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4D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D0B0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6FD0B0"/>
                </a:solidFill>
                <a:latin typeface="Trebuchet MS"/>
                <a:ea typeface="Trebuchet MS"/>
                <a:cs typeface="Trebuchet MS"/>
                <a:sym typeface="Trebuchet MS"/>
              </a:rPr>
              <a:t>4 · YEKUN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566928" y="78638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Nə Etdik və Nə Tapdıq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566928" y="1828800"/>
            <a:ext cx="82296" cy="960120"/>
          </a:xfrm>
          <a:prstGeom prst="rect">
            <a:avLst/>
          </a:prstGeom>
          <a:solidFill>
            <a:srgbClr val="7FB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868680" y="1847088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Deskriptiv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3840480" y="1865376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132K xəstə, 1.26M müraciət təhlil edildi. Yaşlı populyasiyada ölüm 67.8%-ə çatır; 82.6% prediabet riski.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566928" y="2944368"/>
            <a:ext cx="82296" cy="960120"/>
          </a:xfrm>
          <a:prstGeom prst="rect">
            <a:avLst/>
          </a:prstGeom>
          <a:solidFill>
            <a:srgbClr val="E892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868680" y="2962656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Anomaliya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3840480" y="298094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keyfiyyəti yoxlandı: ghost müraciətlər, mənfi HbA1c, təkrar SSN aşkarlandı və işarələndi.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566928" y="4059936"/>
            <a:ext cx="82296" cy="960120"/>
          </a:xfrm>
          <a:prstGeom prst="rect">
            <a:avLst/>
          </a:prstGeom>
          <a:solidFill>
            <a:srgbClr val="6FD0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868680" y="4078224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3840480" y="409651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868680" y="4305621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Proqnoz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3840480" y="429768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ARIMA modeli müraciət həcmini 0.65% xəta (99.35% dəqiqlik) ilə 24 ay irəli proqnozlaşdırdı.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3C63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143C63"/>
                </a:solidFill>
                <a:latin typeface="Trebuchet MS"/>
                <a:ea typeface="Trebuchet MS"/>
                <a:cs typeface="Trebuchet MS"/>
                <a:sym typeface="Trebuchet MS"/>
              </a:rPr>
              <a:t>4 · YEKUN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566928" y="67665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Trebuchet MS"/>
              <a:buNone/>
            </a:pPr>
            <a:r>
              <a:rPr lang="en-US" sz="2900" b="1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Praktik Fayda — Kimə Nə Verir?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566928" y="1783080"/>
            <a:ext cx="5440680" cy="429768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868680" y="20116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3C63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143C63"/>
                </a:solidFill>
                <a:latin typeface="Trebuchet MS"/>
                <a:ea typeface="Trebuchet MS"/>
                <a:cs typeface="Trebuchet MS"/>
                <a:sym typeface="Trebuchet MS"/>
              </a:rPr>
              <a:t>Xəstəxana rəhbərliyi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868680" y="2606040"/>
            <a:ext cx="484632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Kadr, büdcə və yatağın bir il qabağa planlanması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nəzarəti — keyfiyyət problemlərinin aşkarlanması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Asılılıq müalicə proqramının yenidən qiymətləndirilməsi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Yüksək riskli qruplara (metabolik, asılılıq) fokus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6199632" y="1783080"/>
            <a:ext cx="5440680" cy="429768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88900" dist="38100" dir="5400000" algn="bl" rotWithShape="0">
              <a:srgbClr val="94A3B8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6501384" y="20116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1D9E75"/>
                </a:solidFill>
                <a:latin typeface="Trebuchet MS"/>
                <a:ea typeface="Trebuchet MS"/>
                <a:cs typeface="Trebuchet MS"/>
                <a:sym typeface="Trebuchet MS"/>
              </a:rPr>
              <a:t>Xəstələr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6501384" y="2606040"/>
            <a:ext cx="484632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Daha qısa gözləmə müddəti (resurs pikə uyğun)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Mövsümi tələbə görə hazırlanmış keyfiyyətli qulluq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Erkən risk aşkarlanması (prediabet, metabolik risk)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Asılılıq xəstələri üçün daha effektiv, davamlı dəstək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4D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"/>
          <p:cNvSpPr/>
          <p:nvPr/>
        </p:nvSpPr>
        <p:spPr>
          <a:xfrm>
            <a:off x="807720" y="32461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lang="en-US" sz="4600" b="1" dirty="0" err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Təşəkkür</a:t>
            </a:r>
            <a:r>
              <a:rPr lang="en-US" sz="4600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4600" b="1" dirty="0" err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edirəm</a:t>
            </a:r>
            <a:endParaRPr sz="4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841248" y="33832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D0B0"/>
              </a:buClr>
              <a:buSzPts val="2200"/>
              <a:buFont typeface="Trebuchet MS"/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21"/>
          <p:cNvCxnSpPr/>
          <p:nvPr/>
        </p:nvCxnSpPr>
        <p:spPr>
          <a:xfrm>
            <a:off x="868680" y="4160520"/>
            <a:ext cx="2743200" cy="0"/>
          </a:xfrm>
          <a:prstGeom prst="straightConnector1">
            <a:avLst/>
          </a:prstGeom>
          <a:noFill/>
          <a:ln w="31750" cap="flat" cmpd="sng">
            <a:solidFill>
              <a:srgbClr val="1D9E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2" name="Google Shape;352;p21"/>
          <p:cNvSpPr/>
          <p:nvPr/>
        </p:nvSpPr>
        <p:spPr>
          <a:xfrm>
            <a:off x="841248" y="4389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Ziyad </a:t>
            </a:r>
            <a:r>
              <a:rPr lang="en-US" sz="14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Ahmadzada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</Words>
  <Application>Microsoft Macintosh PowerPoint</Application>
  <PresentationFormat>Widescreen</PresentationFormat>
  <Paragraphs>179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Rəşid Cəfərov</dc:creator>
  <cp:lastModifiedBy>Ziyad Ehmedzade</cp:lastModifiedBy>
  <cp:revision>1</cp:revision>
  <dcterms:created xsi:type="dcterms:W3CDTF">2026-06-05T15:23:34Z</dcterms:created>
  <dcterms:modified xsi:type="dcterms:W3CDTF">2026-10-27T17:26:02Z</dcterms:modified>
</cp:coreProperties>
</file>